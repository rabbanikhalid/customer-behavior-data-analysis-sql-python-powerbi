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Open Sans" panose="020B0606030504020204" pitchFamily="3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33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2381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3,900 transactions analyzed across demographics, purchases, and shopping behavior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9103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753326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3,900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793790" y="4785122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Transactions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5275540"/>
            <a:ext cx="23298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Rows in dataset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3407093" y="3753326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3407093" y="4785122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Features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407093" y="5275540"/>
            <a:ext cx="23298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Columns analyzed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020395" y="3753326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37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6020395" y="4785122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020395" y="5275540"/>
            <a:ext cx="23298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 Review Rating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77741"/>
            <a:ext cx="602253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Data Preparation Process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4014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495193"/>
            <a:ext cx="6407944" cy="3048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6695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159919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Imported using pandas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214014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495193"/>
            <a:ext cx="6408063" cy="3048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9" name="Text 7"/>
          <p:cNvSpPr/>
          <p:nvPr/>
        </p:nvSpPr>
        <p:spPr>
          <a:xfrm>
            <a:off x="7428548" y="26695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Initial Exploration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3159919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df.info() and .describe()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391965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274701"/>
            <a:ext cx="6407944" cy="3048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44490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4939427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Imputed median by category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391965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4274701"/>
            <a:ext cx="6408063" cy="3048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548" y="44490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Standardization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4939427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Snake case columns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93790" y="569916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93790" y="6054209"/>
            <a:ext cx="6407944" cy="3048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21" name="Text 19"/>
          <p:cNvSpPr/>
          <p:nvPr/>
        </p:nvSpPr>
        <p:spPr>
          <a:xfrm>
            <a:off x="793790" y="62285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93790" y="6718935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 groups, frequency days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428548" y="569916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06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7428548" y="6054209"/>
            <a:ext cx="6408063" cy="3048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25" name="Text 23"/>
          <p:cNvSpPr/>
          <p:nvPr/>
        </p:nvSpPr>
        <p:spPr>
          <a:xfrm>
            <a:off x="7428548" y="62285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428548" y="6718935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Loaded to PostgreSQL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62795"/>
            <a:ext cx="745712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SQL Analysis: Revenue Insights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6385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Revenue by Gender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219694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Compared total revenue generated by male vs. female customers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856321" y="3638550"/>
            <a:ext cx="35015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High-Spending Discount Users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856321" y="4574024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Identified customers who used discounts but spent above average purchase amount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37423"/>
            <a:ext cx="847094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SQL Analysis: Product Performance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399830"/>
            <a:ext cx="4196358" cy="2592348"/>
          </a:xfrm>
          <a:prstGeom prst="roundRect">
            <a:avLst>
              <a:gd name="adj" fmla="val 3675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363426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35E54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3821311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4541520"/>
            <a:ext cx="29748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Top 5 Products by Rating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5031938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Products with highest average review ratings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3399830"/>
            <a:ext cx="4196358" cy="2592348"/>
          </a:xfrm>
          <a:prstGeom prst="roundRect">
            <a:avLst>
              <a:gd name="adj" fmla="val 3675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51396" y="363426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35E54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8562" y="3821311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1396" y="4541520"/>
            <a:ext cx="36511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Discount-Dependent Products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51396" y="5031938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products with highest percentage of discounted purchases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3399830"/>
            <a:ext cx="4196358" cy="2592348"/>
          </a:xfrm>
          <a:prstGeom prst="roundRect">
            <a:avLst>
              <a:gd name="adj" fmla="val 3675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74568" y="363426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35E54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61734" y="3821311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4568" y="4541520"/>
            <a:ext cx="336923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Top 3 Products per Category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74568" y="5031938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Most purchased products within each category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45043"/>
            <a:ext cx="919460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SQL Analysis: Customer Segmentation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407450"/>
            <a:ext cx="4347567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4541520"/>
            <a:ext cx="32665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Shipping Type Comparison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5031938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 vs. Express shipping purchase amounts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3407450"/>
            <a:ext cx="4347567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8171" y="4541520"/>
            <a:ext cx="385953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Subscribers vs. Non-Subscribers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368171" y="5031938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spend and total revenue comparison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3407450"/>
            <a:ext cx="4347567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5738" y="4541520"/>
            <a:ext cx="36841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Repeat Buyers &amp; Subscriptions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715738" y="5031938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Customers with &gt;5 purchases and subscription likelihood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186351"/>
            <a:ext cx="692229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SQL Analysis: Age &amp; Revenue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9858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Revenue by Age Group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68034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Calculated total revenue contribution of each age group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00969" y="4856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Power BI Dashboard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4240375" y="65954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Interactive dashboard built to present insights visually</a:t>
            </a:r>
            <a:endParaRPr lang="en-US" sz="17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ADE0B5-A0D0-0467-61BF-93E4B797D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727" y="1505005"/>
            <a:ext cx="10848942" cy="59006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39535"/>
            <a:ext cx="67123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Business Recommendations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42103"/>
            <a:ext cx="4196358" cy="2040493"/>
          </a:xfrm>
          <a:prstGeom prst="roundRect">
            <a:avLst>
              <a:gd name="adj" fmla="val 7170"/>
            </a:avLst>
          </a:prstGeom>
          <a:solidFill>
            <a:srgbClr val="FFFCFA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511623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835E54"/>
          </a:solidFill>
          <a:ln/>
        </p:spPr>
      </p:sp>
      <p:sp>
        <p:nvSpPr>
          <p:cNvPr id="5" name="Shape 3"/>
          <p:cNvSpPr/>
          <p:nvPr/>
        </p:nvSpPr>
        <p:spPr>
          <a:xfrm>
            <a:off x="2551688" y="220194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835E54"/>
          </a:solidFill>
          <a:ln/>
        </p:spPr>
      </p:sp>
      <p:sp>
        <p:nvSpPr>
          <p:cNvPr id="6" name="Text 4"/>
          <p:cNvSpPr/>
          <p:nvPr/>
        </p:nvSpPr>
        <p:spPr>
          <a:xfrm>
            <a:off x="2755761" y="2372082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084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Boost Subscriptions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084" y="3599497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Promote exclusive benefits for subscribers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2542103"/>
            <a:ext cx="4196358" cy="2040493"/>
          </a:xfrm>
          <a:prstGeom prst="roundRect">
            <a:avLst>
              <a:gd name="adj" fmla="val 7170"/>
            </a:avLst>
          </a:prstGeom>
          <a:solidFill>
            <a:srgbClr val="FFFCFA"/>
          </a:solidFill>
          <a:ln/>
        </p:spPr>
      </p:sp>
      <p:sp>
        <p:nvSpPr>
          <p:cNvPr id="10" name="Shape 8"/>
          <p:cNvSpPr/>
          <p:nvPr/>
        </p:nvSpPr>
        <p:spPr>
          <a:xfrm>
            <a:off x="5216962" y="2511623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835E54"/>
          </a:solidFill>
          <a:ln/>
        </p:spPr>
      </p:sp>
      <p:sp>
        <p:nvSpPr>
          <p:cNvPr id="11" name="Shape 9"/>
          <p:cNvSpPr/>
          <p:nvPr/>
        </p:nvSpPr>
        <p:spPr>
          <a:xfrm>
            <a:off x="6974860" y="220194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835E54"/>
          </a:solidFill>
          <a:ln/>
        </p:spPr>
      </p:sp>
      <p:sp>
        <p:nvSpPr>
          <p:cNvPr id="12" name="Text 10"/>
          <p:cNvSpPr/>
          <p:nvPr/>
        </p:nvSpPr>
        <p:spPr>
          <a:xfrm>
            <a:off x="7178933" y="2372082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474256" y="3109079"/>
            <a:ext cx="33324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Customer Loyalty Programs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74256" y="3599497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Reward repeat buyers to move into "Loyal" segment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9640133" y="2542103"/>
            <a:ext cx="4196358" cy="2040493"/>
          </a:xfrm>
          <a:prstGeom prst="roundRect">
            <a:avLst>
              <a:gd name="adj" fmla="val 7170"/>
            </a:avLst>
          </a:prstGeom>
          <a:solidFill>
            <a:srgbClr val="FFFCFA"/>
          </a:solidFill>
          <a:ln/>
        </p:spPr>
      </p:sp>
      <p:sp>
        <p:nvSpPr>
          <p:cNvPr id="16" name="Shape 14"/>
          <p:cNvSpPr/>
          <p:nvPr/>
        </p:nvSpPr>
        <p:spPr>
          <a:xfrm>
            <a:off x="9640133" y="2511623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835E54"/>
          </a:solidFill>
          <a:ln/>
        </p:spPr>
      </p:sp>
      <p:sp>
        <p:nvSpPr>
          <p:cNvPr id="17" name="Shape 15"/>
          <p:cNvSpPr/>
          <p:nvPr/>
        </p:nvSpPr>
        <p:spPr>
          <a:xfrm>
            <a:off x="11398032" y="220194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835E54"/>
          </a:solidFill>
          <a:ln/>
        </p:spPr>
      </p:sp>
      <p:sp>
        <p:nvSpPr>
          <p:cNvPr id="18" name="Text 16"/>
          <p:cNvSpPr/>
          <p:nvPr/>
        </p:nvSpPr>
        <p:spPr>
          <a:xfrm>
            <a:off x="11602105" y="2372082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897427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Review Discount Policy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897427" y="3599497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 sales boosts with margin control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93790" y="5149572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FFFCFA"/>
          </a:solidFill>
          <a:ln/>
        </p:spPr>
      </p:sp>
      <p:sp>
        <p:nvSpPr>
          <p:cNvPr id="22" name="Shape 20"/>
          <p:cNvSpPr/>
          <p:nvPr/>
        </p:nvSpPr>
        <p:spPr>
          <a:xfrm>
            <a:off x="793790" y="5119092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835E54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540" y="480941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835E54"/>
          </a:solidFill>
          <a:ln/>
        </p:spPr>
      </p:sp>
      <p:sp>
        <p:nvSpPr>
          <p:cNvPr id="24" name="Text 22"/>
          <p:cNvSpPr/>
          <p:nvPr/>
        </p:nvSpPr>
        <p:spPr>
          <a:xfrm>
            <a:off x="3861614" y="497955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4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51084" y="5716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Product Positioning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51084" y="6206966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Highlight top-rated and best-selling products in campaigns</a:t>
            </a:r>
            <a:endParaRPr lang="en-US" sz="1750" dirty="0"/>
          </a:p>
        </p:txBody>
      </p:sp>
      <p:sp>
        <p:nvSpPr>
          <p:cNvPr id="27" name="Shape 25"/>
          <p:cNvSpPr/>
          <p:nvPr/>
        </p:nvSpPr>
        <p:spPr>
          <a:xfrm>
            <a:off x="7428548" y="5149572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FFFCFA"/>
          </a:solidFill>
          <a:ln/>
        </p:spPr>
      </p:sp>
      <p:sp>
        <p:nvSpPr>
          <p:cNvPr id="28" name="Shape 26"/>
          <p:cNvSpPr/>
          <p:nvPr/>
        </p:nvSpPr>
        <p:spPr>
          <a:xfrm>
            <a:off x="7428548" y="5119092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835E54"/>
          </a:solidFill>
          <a:ln/>
        </p:spPr>
      </p:sp>
      <p:sp>
        <p:nvSpPr>
          <p:cNvPr id="29" name="Shape 27"/>
          <p:cNvSpPr/>
          <p:nvPr/>
        </p:nvSpPr>
        <p:spPr>
          <a:xfrm>
            <a:off x="10292298" y="480941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835E54"/>
          </a:solidFill>
          <a:ln/>
        </p:spPr>
      </p:sp>
      <p:sp>
        <p:nvSpPr>
          <p:cNvPr id="30" name="Text 28"/>
          <p:cNvSpPr/>
          <p:nvPr/>
        </p:nvSpPr>
        <p:spPr>
          <a:xfrm>
            <a:off x="10496371" y="497955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5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7685842" y="5716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Targeted Marketing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685842" y="6206966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 on high-revenue age groups and express-shipping users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97322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Key Takeaways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022163"/>
            <a:ext cx="3664744" cy="1685092"/>
          </a:xfrm>
          <a:prstGeom prst="roundRect">
            <a:avLst>
              <a:gd name="adj" fmla="val 5654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32565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3,900 Transactions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3747016"/>
            <a:ext cx="31958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Comprehensive dataset analyzed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348" y="3022163"/>
            <a:ext cx="3664863" cy="1685092"/>
          </a:xfrm>
          <a:prstGeom prst="roundRect">
            <a:avLst>
              <a:gd name="adj" fmla="val 5654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9782" y="32565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18 Features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9782" y="3747016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Demographics, purchases, behavior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4934069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8224" y="51685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Actionable Insights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8224" y="5658922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Strategic business recommendations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297</Words>
  <Application>Microsoft Office PowerPoint</Application>
  <PresentationFormat>Custom</PresentationFormat>
  <Paragraphs>88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Crimson Pro Bold</vt:lpstr>
      <vt:lpstr>Open Sans</vt:lpstr>
      <vt:lpstr>Crimson Pro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Khalid Rabbani</cp:lastModifiedBy>
  <cp:revision>2</cp:revision>
  <dcterms:created xsi:type="dcterms:W3CDTF">2026-03-31T11:16:57Z</dcterms:created>
  <dcterms:modified xsi:type="dcterms:W3CDTF">2026-03-18T18:31:41Z</dcterms:modified>
</cp:coreProperties>
</file>